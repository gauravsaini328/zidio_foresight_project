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Total units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 Decor</c:v>
                  </c:pt>
                  <c:pt idx="1">
                    <c:v>Lighting</c:v>
                  </c:pt>
                  <c:pt idx="2">
                    <c:v>Kitchen</c:v>
                  </c:pt>
                  <c:pt idx="3">
                    <c:v>Storage</c:v>
                  </c:pt>
                  <c:pt idx="4">
                    <c:v>Furniture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132570</c:v>
                </c:pt>
                <c:pt idx="1">
                  <c:v>102431</c:v>
                </c:pt>
                <c:pt idx="2">
                  <c:v>101144</c:v>
                </c:pt>
                <c:pt idx="3">
                  <c:v>93367</c:v>
                </c:pt>
                <c:pt idx="4">
                  <c:v>82298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Average daily units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units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Non-promotion days</c:v>
                  </c:pt>
                  <c:pt idx="1">
                    <c:v>Promotion days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13.48</c:v>
                </c:pt>
                <c:pt idx="1">
                  <c:v>18.61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Monthly units: 2024 vs 2025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AA8B5"/>
            </a:solidFill>
            <a:ln w="25400" cap="flat">
              <a:solidFill>
                <a:srgbClr val="9AA8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8B5"/>
              </a:solidFill>
              <a:ln w="9525" cap="flat">
                <a:solidFill>
                  <a:srgbClr val="9AA8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20961</c:v>
                </c:pt>
                <c:pt idx="1">
                  <c:v>21333</c:v>
                </c:pt>
                <c:pt idx="2">
                  <c:v>26791</c:v>
                </c:pt>
                <c:pt idx="3">
                  <c:v>24177</c:v>
                </c:pt>
                <c:pt idx="4">
                  <c:v>24402</c:v>
                </c:pt>
                <c:pt idx="5">
                  <c:v>24506</c:v>
                </c:pt>
                <c:pt idx="6">
                  <c:v>21118</c:v>
                </c:pt>
                <c:pt idx="7">
                  <c:v>19351</c:v>
                </c:pt>
                <c:pt idx="8">
                  <c:v>18723</c:v>
                </c:pt>
                <c:pt idx="9">
                  <c:v>17173</c:v>
                </c:pt>
                <c:pt idx="10">
                  <c:v>18660</c:v>
                </c:pt>
                <c:pt idx="11">
                  <c:v>19390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F6F8B"/>
            </a:solidFill>
            <a:ln w="25400" cap="flat">
              <a:solidFill>
                <a:srgbClr val="1F6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6F8B"/>
              </a:solidFill>
              <a:ln w="9525" cap="flat">
                <a:solidFill>
                  <a:srgbClr val="1F6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20938</c:v>
                </c:pt>
                <c:pt idx="1">
                  <c:v>20944</c:v>
                </c:pt>
                <c:pt idx="2">
                  <c:v>26757</c:v>
                </c:pt>
                <c:pt idx="3">
                  <c:v>23959</c:v>
                </c:pt>
                <c:pt idx="4">
                  <c:v>24636</c:v>
                </c:pt>
                <c:pt idx="5">
                  <c:v>24110</c:v>
                </c:pt>
                <c:pt idx="6">
                  <c:v>20998</c:v>
                </c:pt>
                <c:pt idx="7">
                  <c:v>19403</c:v>
                </c:pt>
                <c:pt idx="8">
                  <c:v>18408</c:v>
                </c:pt>
                <c:pt idx="9">
                  <c:v>17217</c:v>
                </c:pt>
                <c:pt idx="10">
                  <c:v>18717</c:v>
                </c:pt>
                <c:pt idx="11">
                  <c:v>19138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500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B6B7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WAPE (%) by rolling-origin fold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9.334</c:v>
                </c:pt>
                <c:pt idx="1">
                  <c:v>10.097</c:v>
                </c:pt>
                <c:pt idx="2">
                  <c:v>10.365</c:v>
                </c:pt>
                <c:pt idx="3">
                  <c:v>9.857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Seasonal Naive</c:v>
                </c:pt>
              </c:strCache>
            </c:strRef>
          </c:tx>
          <c:spPr>
            <a:solidFill>
              <a:srgbClr val="A9B6C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11.872</c:v>
                </c:pt>
                <c:pt idx="1">
                  <c:v>11.37</c:v>
                </c:pt>
                <c:pt idx="2">
                  <c:v>11.69</c:v>
                </c:pt>
                <c:pt idx="3">
                  <c:v>10.04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NorthBay Living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Demand &amp; Inventory Intelligence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NorthBay Living  |  Data Scientist &amp; Analytics Internship Project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Analyzed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834640"/>
            <a:ext cx="0" cy="82296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2788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2834640"/>
            <a:ext cx="0" cy="82296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2788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9.91%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651760"/>
            <a:ext cx="2743200" cy="1234440"/>
          </a:xfrm>
          <a:prstGeom prst="rect">
            <a:avLst/>
          </a:prstGeom>
          <a:solidFill>
            <a:srgbClr val="FDF0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2743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₹9.64M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at Stake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demand forecasts into prioritized inventory decisions for NorthBay Living.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NorthBay Living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Demand Uncertainty to Inventory Decisions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NorthBay Living needs to anticipate SKU-level demand while balancing stockout risk and excess inventory.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788920"/>
            <a:ext cx="713232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84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SKU-level demand, 8 weeks ahead.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0" y="2560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584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and overstock exposure by SKU.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584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and excess converted to value at stake.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2560320"/>
            <a:ext cx="457200" cy="457200"/>
          </a:xfrm>
          <a:prstGeom prst="ellipse">
            <a:avLst/>
          </a:prstGeom>
          <a:solidFill>
            <a:srgbClr val="1F6F8B"/>
          </a:solidFill>
          <a:ln w="19050">
            <a:solidFill>
              <a:srgbClr val="1F6F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5844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Reorder, markdown, watch, or healthy.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NorthBay Living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Decision Intelligence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77724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07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36,550 records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77724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307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MASTER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SKUs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20240" cy="77724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307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 days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1920240" cy="77724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307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4,800 raw · 1,200 analysis-ready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2697480"/>
            <a:ext cx="77724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7512" y="2496312"/>
            <a:ext cx="402336" cy="402336"/>
          </a:xfrm>
          <a:prstGeom prst="ellipse">
            <a:avLst/>
          </a:prstGeom>
          <a:solidFill>
            <a:srgbClr val="E8F1F5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" y="30175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2697480"/>
            <a:ext cx="77724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01952" y="2496312"/>
            <a:ext cx="402336" cy="402336"/>
          </a:xfrm>
          <a:prstGeom prst="ellipse">
            <a:avLst/>
          </a:prstGeom>
          <a:solidFill>
            <a:srgbClr val="E8F1F5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0195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30175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Quality &amp; Cleaning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2697480"/>
            <a:ext cx="77724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36392" y="2496312"/>
            <a:ext cx="402336" cy="402336"/>
          </a:xfrm>
          <a:prstGeom prst="ellipse">
            <a:avLst/>
          </a:prstGeom>
          <a:solidFill>
            <a:srgbClr val="E8F1F5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3639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770632" y="30175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Business Insights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697480"/>
            <a:ext cx="77724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70832" y="2496312"/>
            <a:ext cx="402336" cy="402336"/>
          </a:xfrm>
          <a:prstGeom prst="ellipse">
            <a:avLst/>
          </a:prstGeom>
          <a:solidFill>
            <a:srgbClr val="E8F1F5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7083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005072" y="30175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Demand Forecast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2697480"/>
            <a:ext cx="77724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605272" y="2496312"/>
            <a:ext cx="402336" cy="402336"/>
          </a:xfrm>
          <a:prstGeom prst="ellipse">
            <a:avLst/>
          </a:prstGeom>
          <a:solidFill>
            <a:srgbClr val="E8F1F5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0527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239512" y="30175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 Scoring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69480" y="2697480"/>
            <a:ext cx="77724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839712" y="2496312"/>
            <a:ext cx="402336" cy="402336"/>
          </a:xfrm>
          <a:prstGeom prst="ellipse">
            <a:avLst/>
          </a:prstGeom>
          <a:solidFill>
            <a:srgbClr val="E8F1F5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3971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73952" y="30175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74152" y="2496312"/>
            <a:ext cx="402336" cy="402336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7415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708392" y="30175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Scoring API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" y="39044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inventory-only records (SKU051–SKU200, no matching SKU master or sales records) were excluded from the analysis-ready inventory dataset.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42793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SKUs formed the final analysis population.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NorthBay Living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Shows Clear Category, Promotion &amp; Seasonal Patterns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43000"/>
          <a:ext cx="41148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143000"/>
          <a:ext cx="40233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27249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Decor leads category demand</a:t>
            </a:r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132,570 units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27249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days were associated with higher average demand</a:t>
            </a:r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18.61 vs 13.48 units/day</a:t>
            </a:r>
            <a:endParaRPr lang="en-US" sz="105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365760" y="3154680"/>
          <a:ext cx="53035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9436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yearly pattern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and 2025 broadly similar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SKU011 has lowest average daily demand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 units/day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943600" y="4041648"/>
            <a:ext cx="2743200" cy="621792"/>
          </a:xfrm>
          <a:prstGeom prst="rect">
            <a:avLst/>
          </a:prstGeom>
          <a:solidFill>
            <a:srgbClr val="FDF0E8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035040" y="4078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risk: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SKU011 and SKU028 have negative gross margins; evaluate low demand alongside margin and inventory exposure.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NorthBay Living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Improves on the Seasonal Baseline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9.91%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WAPE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188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11.24%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737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WAPE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188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pp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737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WAPE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" y="2103120"/>
          <a:ext cx="55778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217920" y="1188720"/>
            <a:ext cx="2468880" cy="315468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645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847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HistGradientBoostingRegressor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286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4-fold rolling-origin CV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926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3127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× 50 SKUs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3566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3767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seasonal naive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boosting model achieved lower average WAPE than the seasonal-naive baseline in rolling-origin validation.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NorthBay Living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Converts Forecasts into Financial Priorities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Assessed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Stockout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Overstock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143000"/>
            <a:ext cx="3200400" cy="914400"/>
          </a:xfrm>
          <a:prstGeom prst="rect">
            <a:avLst/>
          </a:prstGeom>
          <a:solidFill>
            <a:srgbClr val="FDF0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0" y="1188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₹9.64M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at Stake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103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GRID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3591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OVERSTOCK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23591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OVERSTOCK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060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STOCKOUT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4787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STOCKOUT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54480" y="2606040"/>
            <a:ext cx="1965960" cy="868680"/>
          </a:xfrm>
          <a:prstGeom prst="rect">
            <a:avLst/>
          </a:prstGeom>
          <a:solidFill>
            <a:srgbClr val="FDF0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54480" y="27889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NOW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108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stockout + low overstock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93592" y="2606040"/>
            <a:ext cx="1965960" cy="868680"/>
          </a:xfrm>
          <a:prstGeom prst="rect">
            <a:avLst/>
          </a:prstGeom>
          <a:solidFill>
            <a:srgbClr val="FBF3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93592" y="27889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/ VOLATILE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593592" y="3108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stockout + high overstock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54480" y="3547872"/>
            <a:ext cx="1965960" cy="868680"/>
          </a:xfrm>
          <a:prstGeom prst="rect">
            <a:avLst/>
          </a:prstGeom>
          <a:solidFill>
            <a:srgbClr val="E9F5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554480" y="37307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0507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stockout + low overstock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93592" y="3547872"/>
            <a:ext cx="1965960" cy="86868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93592" y="37307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CLEAR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593592" y="40507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stockout + high overstock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2852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expected lead-time demand with available inventory and safety stock.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risk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0" y="3767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 stock with forward 30-day demand.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stake is a modeled inventory exposure metric, not confirmed realized loss.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NorthBay Living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Risk Signals to Prioritized Actions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59436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89888"/>
            <a:ext cx="182880" cy="1828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1280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NOW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517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stockout + low overstock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931920" cy="59436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075688"/>
            <a:ext cx="182880" cy="18288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1965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CLEAR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203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overstock + low stockout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931920" cy="59436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761488"/>
            <a:ext cx="182880" cy="18288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2651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/ VOLATILE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89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or mixed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931920" cy="594360"/>
          </a:xfrm>
          <a:prstGeom prst="rect">
            <a:avLst/>
          </a:prstGeom>
          <a:solidFill>
            <a:srgbClr val="F6F8FA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447288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3337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575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0233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·  ILLUSTRATIVE LAYOUT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822960" cy="219456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00600" y="1536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▾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15000" y="1536192"/>
            <a:ext cx="822960" cy="219456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715000" y="1536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▾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874520"/>
            <a:ext cx="2377440" cy="77724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92040" y="1920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8-week forecast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240280"/>
            <a:ext cx="219456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377440"/>
            <a:ext cx="219456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2514600"/>
            <a:ext cx="219456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1874520"/>
            <a:ext cx="1280160" cy="77724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42632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/ overstock risk distribution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2761488"/>
            <a:ext cx="3749040" cy="219456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64608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5550408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7013448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653528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Stake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64608" y="3108960"/>
            <a:ext cx="365760" cy="73152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1" name="Shape 39"/>
          <p:cNvSpPr/>
          <p:nvPr/>
        </p:nvSpPr>
        <p:spPr>
          <a:xfrm>
            <a:off x="5550408" y="3108960"/>
            <a:ext cx="1097280" cy="73152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2" name="Shape 40"/>
          <p:cNvSpPr/>
          <p:nvPr/>
        </p:nvSpPr>
        <p:spPr>
          <a:xfrm>
            <a:off x="7013448" y="3108960"/>
            <a:ext cx="457200" cy="73152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3" name="Shape 41"/>
          <p:cNvSpPr/>
          <p:nvPr/>
        </p:nvSpPr>
        <p:spPr>
          <a:xfrm>
            <a:off x="7653528" y="3108960"/>
            <a:ext cx="640080" cy="73152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4" name="Shape 42"/>
          <p:cNvSpPr/>
          <p:nvPr/>
        </p:nvSpPr>
        <p:spPr>
          <a:xfrm>
            <a:off x="4864608" y="3310128"/>
            <a:ext cx="365760" cy="73152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5" name="Shape 43"/>
          <p:cNvSpPr/>
          <p:nvPr/>
        </p:nvSpPr>
        <p:spPr>
          <a:xfrm>
            <a:off x="5550408" y="3310128"/>
            <a:ext cx="1097280" cy="73152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6" name="Shape 44"/>
          <p:cNvSpPr/>
          <p:nvPr/>
        </p:nvSpPr>
        <p:spPr>
          <a:xfrm>
            <a:off x="7013448" y="3310128"/>
            <a:ext cx="457200" cy="73152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7" name="Shape 45"/>
          <p:cNvSpPr/>
          <p:nvPr/>
        </p:nvSpPr>
        <p:spPr>
          <a:xfrm>
            <a:off x="7653528" y="3310128"/>
            <a:ext cx="640080" cy="73152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663440" y="3703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filtering · SKU filtering · Actual vs forecast demand · Stockout risk distribution · Overstock risk distribution · Prioritized inventory action table · Value-at-stake visibility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can move from forecast → risk → action without reading model code.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NorthBay Living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Production-Oriented Delivery with Transparent Limitations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68980" y="1188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188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0876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Reproducible Python data pipeline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EDA and business insights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8-week SKU forecasting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Rolling-origin validation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Inventory risk scoring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 BI planning dashboard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Flask scoring API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Batch prediction endpoint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68980" y="150876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evaluated on historical rolling-origin validation; future demand can differ.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analysis shows association, not causation.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depends on forecast and inventory assumptions.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covers 50 matched SKUs, not the full 200-SKU business context.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50876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sales/inventory ingestion and periodic retraining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drift monitoring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 as more SKU data becomes available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234440"/>
            <a:ext cx="0" cy="228600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234440"/>
            <a:ext cx="0" cy="228600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SCORING API   </a:t>
            </a:r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https://foresight-scoring-api-v2.onrender.com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turns historical demand data into actionable inventory intelligence.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2026-09-29T10:30:42Z</dcterms:created>
  <dcterms:modified xsi:type="dcterms:W3CDTF">2026-09-29T10:30:42Z</dcterms:modified>
</cp:coreProperties>
</file>