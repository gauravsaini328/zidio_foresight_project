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B1F3A"/>
                </a:solidFill>
                <a:latin typeface="Calibri"/>
              </a:defRPr>
            </a:pPr>
            <a:r>
              <a:rPr sz="1100" b="0" i="0" u="none" strike="noStrike">
                <a:solidFill>
                  <a:srgbClr val="0B1F3A"/>
                </a:solidFill>
                <a:latin typeface="Calibri"/>
              </a:rPr>
              <a:t>Total units by category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Units</c:v>
                </c:pt>
              </c:strCache>
            </c:strRef>
          </c:tx>
          <c:spPr>
            <a:solidFill>
              <a:srgbClr val="1F6F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B1F3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Home Decor</c:v>
                  </c:pt>
                  <c:pt idx="1">
                    <c:v>Lighting</c:v>
                  </c:pt>
                  <c:pt idx="2">
                    <c:v>Kitchen</c:v>
                  </c:pt>
                  <c:pt idx="3">
                    <c:v>Storage</c:v>
                  </c:pt>
                  <c:pt idx="4">
                    <c:v>Furniture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132570</c:v>
                </c:pt>
                <c:pt idx="1">
                  <c:v>102431</c:v>
                </c:pt>
                <c:pt idx="2">
                  <c:v>101144</c:v>
                </c:pt>
                <c:pt idx="3">
                  <c:v>93367</c:v>
                </c:pt>
                <c:pt idx="4">
                  <c:v>82298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0B1F3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700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B1F3A"/>
                </a:solidFill>
                <a:latin typeface="Calibri"/>
              </a:defRPr>
            </a:pPr>
            <a:r>
              <a:rPr sz="1100" b="0" i="0" u="none" strike="noStrike">
                <a:solidFill>
                  <a:srgbClr val="0B1F3A"/>
                </a:solidFill>
                <a:latin typeface="Calibri"/>
              </a:rPr>
              <a:t>Average daily units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Avg daily units</c:v>
                </c:pt>
              </c:strCache>
            </c:strRef>
          </c:tx>
          <c:spPr>
            <a:solidFill>
              <a:srgbClr val="1F6F8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B1F3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Non-promotion days</c:v>
                  </c:pt>
                  <c:pt idx="1">
                    <c:v>Promotion days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13.48</c:v>
                </c:pt>
                <c:pt idx="1">
                  <c:v>18.61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0B1F3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3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B1F3A"/>
                </a:solidFill>
                <a:latin typeface="Calibri"/>
              </a:defRPr>
            </a:pPr>
            <a:r>
              <a:rPr sz="1100" b="0" i="0" u="none" strike="noStrike">
                <a:solidFill>
                  <a:srgbClr val="0B1F3A"/>
                </a:solidFill>
                <a:latin typeface="Calibri"/>
              </a:rPr>
              <a:t>Monthly units: 2024 vs 2025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9AA8B5"/>
            </a:solidFill>
            <a:ln w="25400" cap="flat">
              <a:solidFill>
                <a:srgbClr val="9AA8B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9AA8B5"/>
              </a:solidFill>
              <a:ln w="9525" cap="flat">
                <a:solidFill>
                  <a:srgbClr val="9AA8B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20961</c:v>
                </c:pt>
                <c:pt idx="1">
                  <c:v>21333</c:v>
                </c:pt>
                <c:pt idx="2">
                  <c:v>26791</c:v>
                </c:pt>
                <c:pt idx="3">
                  <c:v>24177</c:v>
                </c:pt>
                <c:pt idx="4">
                  <c:v>24402</c:v>
                </c:pt>
                <c:pt idx="5">
                  <c:v>24506</c:v>
                </c:pt>
                <c:pt idx="6">
                  <c:v>21118</c:v>
                </c:pt>
                <c:pt idx="7">
                  <c:v>19351</c:v>
                </c:pt>
                <c:pt idx="8">
                  <c:v>18723</c:v>
                </c:pt>
                <c:pt idx="9">
                  <c:v>17173</c:v>
                </c:pt>
                <c:pt idx="10">
                  <c:v>18660</c:v>
                </c:pt>
                <c:pt idx="11">
                  <c:v>19390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1F6F8B"/>
            </a:solidFill>
            <a:ln w="25400" cap="flat">
              <a:solidFill>
                <a:srgbClr val="1F6F8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F6F8B"/>
              </a:solidFill>
              <a:ln w="9525" cap="flat">
                <a:solidFill>
                  <a:srgbClr val="1F6F8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20938</c:v>
                </c:pt>
                <c:pt idx="1">
                  <c:v>20944</c:v>
                </c:pt>
                <c:pt idx="2">
                  <c:v>26757</c:v>
                </c:pt>
                <c:pt idx="3">
                  <c:v>23959</c:v>
                </c:pt>
                <c:pt idx="4">
                  <c:v>24636</c:v>
                </c:pt>
                <c:pt idx="5">
                  <c:v>24110</c:v>
                </c:pt>
                <c:pt idx="6">
                  <c:v>20998</c:v>
                </c:pt>
                <c:pt idx="7">
                  <c:v>19403</c:v>
                </c:pt>
                <c:pt idx="8">
                  <c:v>18408</c:v>
                </c:pt>
                <c:pt idx="9">
                  <c:v>17217</c:v>
                </c:pt>
                <c:pt idx="10">
                  <c:v>18717</c:v>
                </c:pt>
                <c:pt idx="11">
                  <c:v>19138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15000"/>
        </c:scaling>
        <c:delete val="0"/>
        <c:axPos val="l"/>
        <c:majorGridlines>
          <c:spPr>
            <a:ln w="6350" cap="flat">
              <a:solidFill>
                <a:srgbClr val="E6ECF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>
              <a:solidFill>
                <a:srgbClr val="5B6B7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B1F3A"/>
                </a:solidFill>
                <a:latin typeface="Calibri"/>
              </a:defRPr>
            </a:pPr>
            <a:r>
              <a:rPr sz="1100" b="0" i="0" u="none" strike="noStrike">
                <a:solidFill>
                  <a:srgbClr val="0B1F3A"/>
                </a:solidFill>
                <a:latin typeface="Calibri"/>
              </a:rPr>
              <a:t>WAPE (%) by rolling-origin fold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Gradient Boosting</c:v>
                </c:pt>
              </c:strCache>
            </c:strRef>
          </c:tx>
          <c:spPr>
            <a:solidFill>
              <a:srgbClr val="1F6F8B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B1F3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Fold 1</c:v>
                  </c:pt>
                  <c:pt idx="1">
                    <c:v>Fold 2</c:v>
                  </c:pt>
                  <c:pt idx="2">
                    <c:v>Fold 3</c:v>
                  </c:pt>
                  <c:pt idx="3">
                    <c:v>Fold 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9.334</c:v>
                </c:pt>
                <c:pt idx="1">
                  <c:v>10.097</c:v>
                </c:pt>
                <c:pt idx="2">
                  <c:v>10.365</c:v>
                </c:pt>
                <c:pt idx="3">
                  <c:v>9.857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Seasonal Naive</c:v>
                </c:pt>
              </c:strCache>
            </c:strRef>
          </c:tx>
          <c:spPr>
            <a:solidFill>
              <a:srgbClr val="A9B6C2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B1F3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Fold 1</c:v>
                  </c:pt>
                  <c:pt idx="1">
                    <c:v>Fold 2</c:v>
                  </c:pt>
                  <c:pt idx="2">
                    <c:v>Fold 3</c:v>
                  </c:pt>
                  <c:pt idx="3">
                    <c:v>Fold 4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11.872</c:v>
                </c:pt>
                <c:pt idx="1">
                  <c:v>11.37</c:v>
                </c:pt>
                <c:pt idx="2">
                  <c:v>11.69</c:v>
                </c:pt>
                <c:pt idx="3">
                  <c:v>10.04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000" u="none">
                  <a:solidFill>
                    <a:srgbClr val="0B1F3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B6B7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FORESIGHT</a:t>
            </a:r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NorthBay Living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457200"/>
            <a:ext cx="8229600" cy="0"/>
          </a:xfrm>
          <a:prstGeom prst="line">
            <a:avLst/>
          </a:prstGeom>
          <a:noFill/>
          <a:ln w="9525">
            <a:solidFill>
              <a:srgbClr val="D9E1E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0" y="477316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9144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FORESIGHT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Demand &amp; Inventory Intelligence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103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NorthBay Living  |  Data Scientist &amp; Analytics Internship Project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78892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42900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SKUs Analyzed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194560" y="2834640"/>
            <a:ext cx="0" cy="822960"/>
          </a:xfrm>
          <a:prstGeom prst="line">
            <a:avLst/>
          </a:prstGeom>
          <a:noFill/>
          <a:ln w="9525">
            <a:solidFill>
              <a:srgbClr val="D9E1E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286000" y="278892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Weeks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2286000" y="342900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Horizon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023360" y="2834640"/>
            <a:ext cx="0" cy="822960"/>
          </a:xfrm>
          <a:prstGeom prst="line">
            <a:avLst/>
          </a:prstGeom>
          <a:noFill/>
          <a:ln w="9525">
            <a:solidFill>
              <a:srgbClr val="D9E1E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0" y="278892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9.91%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4114800" y="342900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WAPE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943600" y="2651760"/>
            <a:ext cx="2743200" cy="1234440"/>
          </a:xfrm>
          <a:prstGeom prst="rect">
            <a:avLst/>
          </a:prstGeom>
          <a:solidFill>
            <a:srgbClr val="FDF0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43600" y="274320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₹9.64M</a:t>
            </a:r>
            <a:endParaRPr lang="en-US" sz="44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0" y="34564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Value at Stake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Turning demand forecasts into prioritized inventory decisions for NorthBay Living.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FORESIGHT</a:t>
            </a:r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NorthBay Living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457200"/>
            <a:ext cx="8229600" cy="0"/>
          </a:xfrm>
          <a:prstGeom prst="line">
            <a:avLst/>
          </a:prstGeom>
          <a:noFill/>
          <a:ln w="9525">
            <a:solidFill>
              <a:srgbClr val="D9E1E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0" y="477316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Demand Uncertainty to Inventory Decisions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NorthBay Living needs to anticipate SKU-level demand while balancing stockout risk and excess inventory.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005840" y="2788920"/>
            <a:ext cx="7132320" cy="0"/>
          </a:xfrm>
          <a:prstGeom prst="line">
            <a:avLst/>
          </a:prstGeom>
          <a:noFill/>
          <a:ln w="9525">
            <a:solidFill>
              <a:srgbClr val="D9E1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560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6F8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2461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Forecast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584448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SKU-level demand, 8 weeks ahead.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2560320" y="2560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6F8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56032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2560320" y="32461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Detection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2560320" y="3584448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Stockout and overstock exposure by SKU.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63440" y="2560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6F8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66344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663440" y="32461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Impact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4663440" y="3584448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Shortage and excess converted to value at stake.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766560" y="2560320"/>
            <a:ext cx="457200" cy="457200"/>
          </a:xfrm>
          <a:prstGeom prst="ellipse">
            <a:avLst/>
          </a:prstGeom>
          <a:solidFill>
            <a:srgbClr val="1F6F8B"/>
          </a:solidFill>
          <a:ln w="19050">
            <a:solidFill>
              <a:srgbClr val="1F6F8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76656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766560" y="32461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766560" y="3584448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Reorder, markdown, watch, or healthy.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FORESIGHT</a:t>
            </a:r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NorthBay Living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457200"/>
            <a:ext cx="8229600" cy="0"/>
          </a:xfrm>
          <a:prstGeom prst="line">
            <a:avLst/>
          </a:prstGeom>
          <a:noFill/>
          <a:ln w="9525">
            <a:solidFill>
              <a:srgbClr val="D9E1E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0" y="477316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Raw Data to Decision Intelligence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1920240" cy="777240"/>
          </a:xfrm>
          <a:prstGeom prst="rect">
            <a:avLst/>
          </a:prstGeom>
          <a:solidFill>
            <a:srgbClr val="F6F8FA"/>
          </a:solidFill>
          <a:ln w="9525">
            <a:solidFill>
              <a:srgbClr val="D9E1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30759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155448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36,550 records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560320" y="1234440"/>
            <a:ext cx="1920240" cy="777240"/>
          </a:xfrm>
          <a:prstGeom prst="rect">
            <a:avLst/>
          </a:prstGeom>
          <a:solidFill>
            <a:srgbClr val="F6F8FA"/>
          </a:solidFill>
          <a:ln w="9525">
            <a:solidFill>
              <a:srgbClr val="D9E1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97480" y="130759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SKU MASTER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155448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SKUs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234440"/>
            <a:ext cx="1920240" cy="777240"/>
          </a:xfrm>
          <a:prstGeom prst="rect">
            <a:avLst/>
          </a:prstGeom>
          <a:solidFill>
            <a:srgbClr val="F6F8FA"/>
          </a:solidFill>
          <a:ln w="9525">
            <a:solidFill>
              <a:srgbClr val="D9E1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00600" y="130759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4800600" y="155448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731 days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766560" y="1234440"/>
            <a:ext cx="1920240" cy="777240"/>
          </a:xfrm>
          <a:prstGeom prst="rect">
            <a:avLst/>
          </a:prstGeom>
          <a:solidFill>
            <a:srgbClr val="F6F8FA"/>
          </a:solidFill>
          <a:ln w="9525">
            <a:solidFill>
              <a:srgbClr val="D9E1E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903720" y="130759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6903720" y="155448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4,800 raw · 1,200 analysis-ready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1097280" y="2697480"/>
            <a:ext cx="777240" cy="0"/>
          </a:xfrm>
          <a:prstGeom prst="line">
            <a:avLst/>
          </a:prstGeom>
          <a:noFill/>
          <a:ln w="15875">
            <a:solidFill>
              <a:srgbClr val="5B6B7B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67512" y="2496312"/>
            <a:ext cx="402336" cy="402336"/>
          </a:xfrm>
          <a:prstGeom prst="ellipse">
            <a:avLst/>
          </a:prstGeom>
          <a:solidFill>
            <a:srgbClr val="E8F1F5"/>
          </a:solidFill>
          <a:ln w="12700">
            <a:solidFill>
              <a:srgbClr val="1F6F8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67512" y="24963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301752" y="3017520"/>
            <a:ext cx="11338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Data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331720" y="2697480"/>
            <a:ext cx="777240" cy="0"/>
          </a:xfrm>
          <a:prstGeom prst="line">
            <a:avLst/>
          </a:prstGeom>
          <a:noFill/>
          <a:ln w="15875">
            <a:solidFill>
              <a:srgbClr val="5B6B7B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1901952" y="2496312"/>
            <a:ext cx="402336" cy="402336"/>
          </a:xfrm>
          <a:prstGeom prst="ellipse">
            <a:avLst/>
          </a:prstGeom>
          <a:solidFill>
            <a:srgbClr val="E8F1F5"/>
          </a:solidFill>
          <a:ln w="12700">
            <a:solidFill>
              <a:srgbClr val="1F6F8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901952" y="24963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536192" y="3017520"/>
            <a:ext cx="11338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Data Quality &amp; Cleaning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566160" y="2697480"/>
            <a:ext cx="777240" cy="0"/>
          </a:xfrm>
          <a:prstGeom prst="line">
            <a:avLst/>
          </a:prstGeom>
          <a:noFill/>
          <a:ln w="15875">
            <a:solidFill>
              <a:srgbClr val="5B6B7B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3136392" y="2496312"/>
            <a:ext cx="402336" cy="402336"/>
          </a:xfrm>
          <a:prstGeom prst="ellipse">
            <a:avLst/>
          </a:prstGeom>
          <a:solidFill>
            <a:srgbClr val="E8F1F5"/>
          </a:solidFill>
          <a:ln w="12700">
            <a:solidFill>
              <a:srgbClr val="1F6F8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136392" y="24963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2770632" y="3017520"/>
            <a:ext cx="11338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&amp; Business Insights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800600" y="2697480"/>
            <a:ext cx="777240" cy="0"/>
          </a:xfrm>
          <a:prstGeom prst="line">
            <a:avLst/>
          </a:prstGeom>
          <a:noFill/>
          <a:ln w="15875">
            <a:solidFill>
              <a:srgbClr val="5B6B7B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4370832" y="2496312"/>
            <a:ext cx="402336" cy="402336"/>
          </a:xfrm>
          <a:prstGeom prst="ellipse">
            <a:avLst/>
          </a:prstGeom>
          <a:solidFill>
            <a:srgbClr val="E8F1F5"/>
          </a:solidFill>
          <a:ln w="12700">
            <a:solidFill>
              <a:srgbClr val="1F6F8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370832" y="24963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4005072" y="3017520"/>
            <a:ext cx="11338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Demand Forecast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035040" y="2697480"/>
            <a:ext cx="777240" cy="0"/>
          </a:xfrm>
          <a:prstGeom prst="line">
            <a:avLst/>
          </a:prstGeom>
          <a:noFill/>
          <a:ln w="15875">
            <a:solidFill>
              <a:srgbClr val="5B6B7B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5605272" y="2496312"/>
            <a:ext cx="402336" cy="402336"/>
          </a:xfrm>
          <a:prstGeom prst="ellipse">
            <a:avLst/>
          </a:prstGeom>
          <a:solidFill>
            <a:srgbClr val="E8F1F5"/>
          </a:solidFill>
          <a:ln w="12700">
            <a:solidFill>
              <a:srgbClr val="1F6F8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605272" y="24963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5239512" y="3017520"/>
            <a:ext cx="11338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Risk Scoring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7269480" y="2697480"/>
            <a:ext cx="777240" cy="0"/>
          </a:xfrm>
          <a:prstGeom prst="line">
            <a:avLst/>
          </a:prstGeom>
          <a:noFill/>
          <a:ln w="15875">
            <a:solidFill>
              <a:srgbClr val="5B6B7B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6839712" y="2496312"/>
            <a:ext cx="402336" cy="402336"/>
          </a:xfrm>
          <a:prstGeom prst="ellipse">
            <a:avLst/>
          </a:prstGeom>
          <a:solidFill>
            <a:srgbClr val="E8F1F5"/>
          </a:solidFill>
          <a:ln w="12700">
            <a:solidFill>
              <a:srgbClr val="1F6F8B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839712" y="24963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6473952" y="3017520"/>
            <a:ext cx="11338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Dashboard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8074152" y="2496312"/>
            <a:ext cx="402336" cy="402336"/>
          </a:xfrm>
          <a:prstGeom prst="ellipse">
            <a:avLst/>
          </a:prstGeom>
          <a:solidFill>
            <a:srgbClr val="1F6F8B"/>
          </a:solidFill>
          <a:ln w="12700">
            <a:solidFill>
              <a:srgbClr val="1F6F8B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074152" y="24963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7708392" y="3017520"/>
            <a:ext cx="11338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Forecasting, Risk Scoring &amp; Power BI Dashboard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457200" y="3840480"/>
            <a:ext cx="8229600" cy="731520"/>
          </a:xfrm>
          <a:prstGeom prst="rect">
            <a:avLst/>
          </a:prstGeom>
          <a:solidFill>
            <a:srgbClr val="E8F1F5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40080" y="390448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Unmatched inventory-only records (SKU051–SKU200, no matching SKU master or sales records) were excluded from the analysis-ready inventory dataset.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640080" y="4279392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SKUs formed the final analysis population.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FORESIGHT</a:t>
            </a:r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NorthBay Living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457200"/>
            <a:ext cx="8229600" cy="0"/>
          </a:xfrm>
          <a:prstGeom prst="line">
            <a:avLst/>
          </a:prstGeom>
          <a:noFill/>
          <a:ln w="9525">
            <a:solidFill>
              <a:srgbClr val="D9E1E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0" y="477316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Shows Clear Category, Promotion &amp; Seasonal Patterns</a:t>
            </a:r>
            <a:endParaRPr lang="en-US" sz="2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365760" y="1143000"/>
          <a:ext cx="4114800" cy="1554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4663440" y="1143000"/>
          <a:ext cx="4023360" cy="1554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 txBox="1"/>
          <p:nvPr/>
        </p:nvSpPr>
        <p:spPr>
          <a:xfrm>
            <a:off x="457200" y="272491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Decor leads category demand</a:t>
            </a:r>
            <a:pPr indent="0" marL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132,570 units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4663440" y="272491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Promotion days were associated with higher average demand</a:t>
            </a:r>
            <a:pPr indent="0" marL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18.61 vs 13.48 units/day</a:t>
            </a:r>
            <a:endParaRPr lang="en-US" sz="1050" dirty="0"/>
          </a:p>
        </p:txBody>
      </p:sp>
      <p:graphicFrame>
        <p:nvGraphicFramePr>
          <p:cNvPr id="10" name="Chart 2" descr=""/>
          <p:cNvGraphicFramePr/>
          <p:nvPr/>
        </p:nvGraphicFramePr>
        <p:xfrm>
          <a:off x="365760" y="3154680"/>
          <a:ext cx="5303520" cy="1554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 6"/>
          <p:cNvSpPr txBox="1"/>
          <p:nvPr/>
        </p:nvSpPr>
        <p:spPr>
          <a:xfrm>
            <a:off x="5943600" y="3154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 yearly pattern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 and 2025 broadly similar</a:t>
            </a:r>
            <a:endParaRPr lang="en-US" sz="1050" dirty="0"/>
          </a:p>
        </p:txBody>
      </p:sp>
      <p:sp>
        <p:nvSpPr>
          <p:cNvPr id="12" name="Text 7"/>
          <p:cNvSpPr txBox="1"/>
          <p:nvPr/>
        </p:nvSpPr>
        <p:spPr>
          <a:xfrm>
            <a:off x="594360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SKU011 has lowest average daily demand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2.67 units/day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5943600" y="4041648"/>
            <a:ext cx="2743200" cy="621792"/>
          </a:xfrm>
          <a:prstGeom prst="rect">
            <a:avLst/>
          </a:prstGeom>
          <a:solidFill>
            <a:srgbClr val="FDF0E8"/>
          </a:solidFill>
          <a:ln/>
        </p:spPr>
      </p:sp>
      <p:sp>
        <p:nvSpPr>
          <p:cNvPr id="14" name="Text 9"/>
          <p:cNvSpPr txBox="1"/>
          <p:nvPr/>
        </p:nvSpPr>
        <p:spPr>
          <a:xfrm>
            <a:off x="6035040" y="4078224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risk: </a:t>
            </a:r>
            <a:pPr indent="0" marL="0">
              <a:buNone/>
            </a:pPr>
            <a:r>
              <a:rPr lang="en-US" sz="10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SKU011 and SKU028 have negative gross margins; evaluate low demand alongside margin and inventory exposure.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FORESIGHT</a:t>
            </a:r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NorthBay Living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457200"/>
            <a:ext cx="8229600" cy="0"/>
          </a:xfrm>
          <a:prstGeom prst="line">
            <a:avLst/>
          </a:prstGeom>
          <a:noFill/>
          <a:ln w="9525">
            <a:solidFill>
              <a:srgbClr val="D9E1E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0" y="477316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Boosting Improves on the Seasonal Baseline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887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9.91%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73736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Boosting WAPE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377440" y="11887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11.24%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2377440" y="173736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Seasonal Naive WAPE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297680" y="11887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1.33 pp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4297680" y="173736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WAPE</a:t>
            </a:r>
            <a:endParaRPr lang="en-US" sz="11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365760" y="2103120"/>
          <a:ext cx="5577840" cy="2240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10"/>
          <p:cNvSpPr/>
          <p:nvPr/>
        </p:nvSpPr>
        <p:spPr>
          <a:xfrm>
            <a:off x="6217920" y="1188720"/>
            <a:ext cx="2468880" cy="3154680"/>
          </a:xfrm>
          <a:prstGeom prst="rect">
            <a:avLst/>
          </a:prstGeom>
          <a:solidFill>
            <a:srgbClr val="F6F8FA"/>
          </a:solidFill>
          <a:ln w="9525">
            <a:solidFill>
              <a:srgbClr val="D9E1E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00800" y="129844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400800" y="164592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400800" y="184708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HistGradientBoostingRegressor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6400800" y="228600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0" y="248716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4-fold rolling-origin CV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0" y="292608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6400800" y="312724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weeks × 50 SKUs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6400800" y="356616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6400800" y="376732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52-week seasonal naive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457200" y="437083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gradient boosting model achieved lower average WAPE than the seasonal-naive baseline in rolling-origin validation.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FORESIGHT</a:t>
            </a:r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NorthBay Living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457200"/>
            <a:ext cx="8229600" cy="0"/>
          </a:xfrm>
          <a:prstGeom prst="line">
            <a:avLst/>
          </a:prstGeom>
          <a:noFill/>
          <a:ln w="9525">
            <a:solidFill>
              <a:srgbClr val="D9E1E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0" y="477316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Scoring Converts Forecasts into Financial Priorities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8872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73736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SKUs Assessed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103120" y="118872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2103120" y="173736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Stockout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749040" y="118872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3749040" y="173736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Overstock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0" y="1143000"/>
            <a:ext cx="3200400" cy="914400"/>
          </a:xfrm>
          <a:prstGeom prst="rect">
            <a:avLst/>
          </a:prstGeom>
          <a:solidFill>
            <a:srgbClr val="FDF0E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0" y="118872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₹9.64M</a:t>
            </a:r>
            <a:endParaRPr lang="en-US" sz="38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0" y="17830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Value at Stake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554480" y="210312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DECISIONING GRID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554480" y="2359152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OVERSTOCK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3593592" y="2359152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OVERSTOCK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2606040"/>
            <a:ext cx="1005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STOCKOUT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3547872"/>
            <a:ext cx="1005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STOCKOUT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554480" y="2606040"/>
            <a:ext cx="1965960" cy="868680"/>
          </a:xfrm>
          <a:prstGeom prst="rect">
            <a:avLst/>
          </a:prstGeom>
          <a:solidFill>
            <a:srgbClr val="FDF0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554480" y="2788920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REORDER NOW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554480" y="310896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stockout + low overstock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593592" y="2606040"/>
            <a:ext cx="1965960" cy="868680"/>
          </a:xfrm>
          <a:prstGeom prst="rect">
            <a:avLst/>
          </a:prstGeom>
          <a:solidFill>
            <a:srgbClr val="FBF3E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593592" y="2788920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/ VOLATILE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3593592" y="310896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stockout + high overstock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1554480" y="3547872"/>
            <a:ext cx="1965960" cy="868680"/>
          </a:xfrm>
          <a:prstGeom prst="rect">
            <a:avLst/>
          </a:prstGeom>
          <a:solidFill>
            <a:srgbClr val="E9F5EE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554480" y="3730752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HEALTHY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1554480" y="4050792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stockout + low overstock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593592" y="3547872"/>
            <a:ext cx="1965960" cy="868680"/>
          </a:xfrm>
          <a:prstGeom prst="rect">
            <a:avLst/>
          </a:prstGeom>
          <a:solidFill>
            <a:srgbClr val="E8F1F5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593592" y="3730752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MARKDOWN / CLEAR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3593592" y="4050792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stockout + high overstock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59436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Stockout risk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5943600" y="285292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Compares expected lead-time demand with available inventory and safety stock.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5943600" y="35204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Overstock risk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5943600" y="376732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Compares current stock with forward 30-day demand.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457200" y="44805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at stake is a modeled inventory exposure metric, not confirmed realized loss.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FORESIGHT</a:t>
            </a:r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NorthBay Living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457200"/>
            <a:ext cx="8229600" cy="0"/>
          </a:xfrm>
          <a:prstGeom prst="line">
            <a:avLst/>
          </a:prstGeom>
          <a:noFill/>
          <a:ln w="9525">
            <a:solidFill>
              <a:srgbClr val="D9E1E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0" y="477316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Risk Signals to Prioritized Actions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3931920" cy="594360"/>
          </a:xfrm>
          <a:prstGeom prst="rect">
            <a:avLst/>
          </a:prstGeom>
          <a:solidFill>
            <a:srgbClr val="F6F8FA"/>
          </a:solidFill>
          <a:ln w="9525">
            <a:solidFill>
              <a:srgbClr val="D9E1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1792" y="1389888"/>
            <a:ext cx="182880" cy="182880"/>
          </a:xfrm>
          <a:prstGeom prst="ellipse">
            <a:avLst/>
          </a:prstGeom>
          <a:solidFill>
            <a:srgbClr val="C2410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128016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REORDER NOW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151790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stockout + low overstock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874520"/>
            <a:ext cx="3931920" cy="594360"/>
          </a:xfrm>
          <a:prstGeom prst="rect">
            <a:avLst/>
          </a:prstGeom>
          <a:solidFill>
            <a:srgbClr val="F6F8FA"/>
          </a:solidFill>
          <a:ln w="9525">
            <a:solidFill>
              <a:srgbClr val="D9E1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1792" y="2075688"/>
            <a:ext cx="182880" cy="182880"/>
          </a:xfrm>
          <a:prstGeom prst="ellipse">
            <a:avLst/>
          </a:prstGeom>
          <a:solidFill>
            <a:srgbClr val="1F6F8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60120" y="196596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MARKDOWN / CLEAR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960120" y="220370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overstock + low stockout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2560320"/>
            <a:ext cx="3931920" cy="594360"/>
          </a:xfrm>
          <a:prstGeom prst="rect">
            <a:avLst/>
          </a:prstGeom>
          <a:solidFill>
            <a:srgbClr val="F6F8FA"/>
          </a:solidFill>
          <a:ln w="9525">
            <a:solidFill>
              <a:srgbClr val="D9E1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1792" y="2761488"/>
            <a:ext cx="182880" cy="182880"/>
          </a:xfrm>
          <a:prstGeom prst="ellipse">
            <a:avLst/>
          </a:prstGeom>
          <a:solidFill>
            <a:srgbClr val="B7791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60120" y="265176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/ VOLATILE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960120" y="288950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Elevated or mixed risk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246120"/>
            <a:ext cx="3931920" cy="594360"/>
          </a:xfrm>
          <a:prstGeom prst="rect">
            <a:avLst/>
          </a:prstGeom>
          <a:solidFill>
            <a:srgbClr val="F6F8FA"/>
          </a:solidFill>
          <a:ln w="9525">
            <a:solidFill>
              <a:srgbClr val="D9E1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1792" y="3447288"/>
            <a:ext cx="182880" cy="182880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60120" y="333756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HEALTHY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960120" y="357530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risk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663440" y="1188720"/>
            <a:ext cx="4023360" cy="2423160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800600" y="128016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DASHBOARD  ·  ILLUSTRATIVE LAYOUT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4800600" y="1536192"/>
            <a:ext cx="822960" cy="219456"/>
          </a:xfrm>
          <a:prstGeom prst="rect">
            <a:avLst/>
          </a:prstGeom>
          <a:solidFill>
            <a:srgbClr val="E8F1F5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800600" y="153619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▾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715000" y="1536192"/>
            <a:ext cx="822960" cy="219456"/>
          </a:xfrm>
          <a:prstGeom prst="rect">
            <a:avLst/>
          </a:prstGeom>
          <a:solidFill>
            <a:srgbClr val="E8F1F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715000" y="153619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SKU ▾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800600" y="1874520"/>
            <a:ext cx="2377440" cy="777240"/>
          </a:xfrm>
          <a:prstGeom prst="rect">
            <a:avLst/>
          </a:prstGeom>
          <a:solidFill>
            <a:srgbClr val="F6F8F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892040" y="192024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vs 8-week forecast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892040" y="2240280"/>
            <a:ext cx="2194560" cy="0"/>
          </a:xfrm>
          <a:prstGeom prst="line">
            <a:avLst/>
          </a:prstGeom>
          <a:noFill/>
          <a:ln w="9525">
            <a:solidFill>
              <a:srgbClr val="E3E9E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892040" y="2377440"/>
            <a:ext cx="2194560" cy="0"/>
          </a:xfrm>
          <a:prstGeom prst="line">
            <a:avLst/>
          </a:prstGeom>
          <a:noFill/>
          <a:ln w="9525">
            <a:solidFill>
              <a:srgbClr val="E3E9E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892040" y="2514600"/>
            <a:ext cx="2194560" cy="0"/>
          </a:xfrm>
          <a:prstGeom prst="line">
            <a:avLst/>
          </a:prstGeom>
          <a:noFill/>
          <a:ln w="9525">
            <a:solidFill>
              <a:srgbClr val="E3E9E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69480" y="1874520"/>
            <a:ext cx="1280160" cy="777240"/>
          </a:xfrm>
          <a:prstGeom prst="rect">
            <a:avLst/>
          </a:prstGeom>
          <a:solidFill>
            <a:srgbClr val="F6F8FA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42632" y="1920240"/>
            <a:ext cx="1143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Stockout / overstock risk distribution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800600" y="2761488"/>
            <a:ext cx="3749040" cy="219456"/>
          </a:xfrm>
          <a:prstGeom prst="rect">
            <a:avLst/>
          </a:prstGeom>
          <a:solidFill>
            <a:srgbClr val="E8F1F5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4864608" y="276148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SKU</a:t>
            </a:r>
            <a:endParaRPr lang="en-US" sz="850" dirty="0"/>
          </a:p>
        </p:txBody>
      </p:sp>
      <p:sp>
        <p:nvSpPr>
          <p:cNvPr id="37" name="Text 35"/>
          <p:cNvSpPr txBox="1"/>
          <p:nvPr/>
        </p:nvSpPr>
        <p:spPr>
          <a:xfrm>
            <a:off x="5550408" y="276148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Action</a:t>
            </a:r>
            <a:endParaRPr lang="en-US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7013448" y="276148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7653528" y="276148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at Stake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4864608" y="3108960"/>
            <a:ext cx="365760" cy="73152"/>
          </a:xfrm>
          <a:prstGeom prst="rect">
            <a:avLst/>
          </a:prstGeom>
          <a:solidFill>
            <a:srgbClr val="DCE3EA"/>
          </a:solidFill>
          <a:ln/>
        </p:spPr>
      </p:sp>
      <p:sp>
        <p:nvSpPr>
          <p:cNvPr id="41" name="Shape 39"/>
          <p:cNvSpPr/>
          <p:nvPr/>
        </p:nvSpPr>
        <p:spPr>
          <a:xfrm>
            <a:off x="5550408" y="3108960"/>
            <a:ext cx="1097280" cy="73152"/>
          </a:xfrm>
          <a:prstGeom prst="rect">
            <a:avLst/>
          </a:prstGeom>
          <a:solidFill>
            <a:srgbClr val="DCE3EA"/>
          </a:solidFill>
          <a:ln/>
        </p:spPr>
      </p:sp>
      <p:sp>
        <p:nvSpPr>
          <p:cNvPr id="42" name="Shape 40"/>
          <p:cNvSpPr/>
          <p:nvPr/>
        </p:nvSpPr>
        <p:spPr>
          <a:xfrm>
            <a:off x="7013448" y="3108960"/>
            <a:ext cx="457200" cy="73152"/>
          </a:xfrm>
          <a:prstGeom prst="rect">
            <a:avLst/>
          </a:prstGeom>
          <a:solidFill>
            <a:srgbClr val="DCE3EA"/>
          </a:solidFill>
          <a:ln/>
        </p:spPr>
      </p:sp>
      <p:sp>
        <p:nvSpPr>
          <p:cNvPr id="43" name="Shape 41"/>
          <p:cNvSpPr/>
          <p:nvPr/>
        </p:nvSpPr>
        <p:spPr>
          <a:xfrm>
            <a:off x="7653528" y="3108960"/>
            <a:ext cx="640080" cy="73152"/>
          </a:xfrm>
          <a:prstGeom prst="rect">
            <a:avLst/>
          </a:prstGeom>
          <a:solidFill>
            <a:srgbClr val="DCE3EA"/>
          </a:solidFill>
          <a:ln/>
        </p:spPr>
      </p:sp>
      <p:sp>
        <p:nvSpPr>
          <p:cNvPr id="44" name="Shape 42"/>
          <p:cNvSpPr/>
          <p:nvPr/>
        </p:nvSpPr>
        <p:spPr>
          <a:xfrm>
            <a:off x="4864608" y="3310128"/>
            <a:ext cx="365760" cy="73152"/>
          </a:xfrm>
          <a:prstGeom prst="rect">
            <a:avLst/>
          </a:prstGeom>
          <a:solidFill>
            <a:srgbClr val="DCE3EA"/>
          </a:solidFill>
          <a:ln/>
        </p:spPr>
      </p:sp>
      <p:sp>
        <p:nvSpPr>
          <p:cNvPr id="45" name="Shape 43"/>
          <p:cNvSpPr/>
          <p:nvPr/>
        </p:nvSpPr>
        <p:spPr>
          <a:xfrm>
            <a:off x="5550408" y="3310128"/>
            <a:ext cx="1097280" cy="73152"/>
          </a:xfrm>
          <a:prstGeom prst="rect">
            <a:avLst/>
          </a:prstGeom>
          <a:solidFill>
            <a:srgbClr val="DCE3EA"/>
          </a:solidFill>
          <a:ln/>
        </p:spPr>
      </p:sp>
      <p:sp>
        <p:nvSpPr>
          <p:cNvPr id="46" name="Shape 44"/>
          <p:cNvSpPr/>
          <p:nvPr/>
        </p:nvSpPr>
        <p:spPr>
          <a:xfrm>
            <a:off x="7013448" y="3310128"/>
            <a:ext cx="457200" cy="73152"/>
          </a:xfrm>
          <a:prstGeom prst="rect">
            <a:avLst/>
          </a:prstGeom>
          <a:solidFill>
            <a:srgbClr val="DCE3EA"/>
          </a:solidFill>
          <a:ln/>
        </p:spPr>
      </p:sp>
      <p:sp>
        <p:nvSpPr>
          <p:cNvPr id="47" name="Shape 45"/>
          <p:cNvSpPr/>
          <p:nvPr/>
        </p:nvSpPr>
        <p:spPr>
          <a:xfrm>
            <a:off x="7653528" y="3310128"/>
            <a:ext cx="640080" cy="73152"/>
          </a:xfrm>
          <a:prstGeom prst="rect">
            <a:avLst/>
          </a:prstGeom>
          <a:solidFill>
            <a:srgbClr val="DCE3EA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663440" y="370332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filtering · SKU filtering · Actual vs forecast demand · Stockout risk distribution · Overstock risk distribution · Prioritized inventory action table · Value-at-stake visibility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solidFill>
            <a:srgbClr val="E8F1F5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640080" y="42976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users can move from forecast → risk → action without reading model code.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FORESIGHT</a:t>
            </a:r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NorthBay Living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457200"/>
            <a:ext cx="8229600" cy="0"/>
          </a:xfrm>
          <a:prstGeom prst="line">
            <a:avLst/>
          </a:prstGeom>
          <a:noFill/>
          <a:ln w="9525">
            <a:solidFill>
              <a:srgbClr val="D9E1E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0" y="477316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Delivery with Transparent Limitations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88720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3268980" y="1188720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080760" y="1188720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508760"/>
            <a:ext cx="2606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Reproducible Python data pipeline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EDA and business insights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8-week SKU forecasting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Rolling-origin validation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Inventory risk scoring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Power BI planning dashboard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268980" y="1508760"/>
            <a:ext cx="2606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evaluated on historical rolling-origin validation; future demand can differ.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Promotion analysis shows association, not causation.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depends on forecast and inventory assumptions.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covers 50 matched SKUs, not the full 200-SKU business context.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080760" y="1508760"/>
            <a:ext cx="2606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sales/inventory ingestion and periodic retraining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drift monitoring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coverage as more SKU data becomes available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108960" y="1234440"/>
            <a:ext cx="0" cy="2286000"/>
          </a:xfrm>
          <a:prstGeom prst="line">
            <a:avLst/>
          </a:prstGeom>
          <a:noFill/>
          <a:ln w="9525">
            <a:solidFill>
              <a:srgbClr val="D9E1E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943600" y="1234440"/>
            <a:ext cx="0" cy="2286000"/>
          </a:xfrm>
          <a:prstGeom prst="line">
            <a:avLst/>
          </a:prstGeom>
          <a:noFill/>
          <a:ln w="9525">
            <a:solidFill>
              <a:srgbClr val="D9E1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4224528"/>
            <a:ext cx="8229600" cy="457200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7200" y="42245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FORESIGHT turns historical demand data into actionable inventory intelligence.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2026-09-29T10:48:13Z</dcterms:created>
  <dcterms:modified xsi:type="dcterms:W3CDTF">2026-09-29T10:48:13Z</dcterms:modified>
</cp:coreProperties>
</file>